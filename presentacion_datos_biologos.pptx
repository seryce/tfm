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C762DD-A122-407B-8597-652BC12021A1}" v="2" dt="2026-07-01T07:07:31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LÓPEZ GONZÁLEZ DEL REY" userId="b10740f97eedccef" providerId="LiveId" clId="{2279C30D-3B69-4D4F-A3FB-81E796C08E19}"/>
    <pc:docChg chg="undo custSel addSld delSld modSld sldOrd">
      <pc:chgData name="SERGIO LÓPEZ GONZÁLEZ DEL REY" userId="b10740f97eedccef" providerId="LiveId" clId="{2279C30D-3B69-4D4F-A3FB-81E796C08E19}" dt="2026-07-01T07:17:14.731" v="188" actId="20577"/>
      <pc:docMkLst>
        <pc:docMk/>
      </pc:docMkLst>
      <pc:sldChg chg="addSp delSp modSp mod">
        <pc:chgData name="SERGIO LÓPEZ GONZÁLEZ DEL REY" userId="b10740f97eedccef" providerId="LiveId" clId="{2279C30D-3B69-4D4F-A3FB-81E796C08E19}" dt="2026-07-01T06:30:18.483" v="28" actId="20577"/>
        <pc:sldMkLst>
          <pc:docMk/>
          <pc:sldMk cId="0" sldId="256"/>
        </pc:sldMkLst>
        <pc:spChg chg="mod">
          <ac:chgData name="SERGIO LÓPEZ GONZÁLEZ DEL REY" userId="b10740f97eedccef" providerId="LiveId" clId="{2279C30D-3B69-4D4F-A3FB-81E796C08E19}" dt="2026-07-01T06:28:40.375" v="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30:18.483" v="28" actId="20577"/>
          <ac:spMkLst>
            <pc:docMk/>
            <pc:sldMk cId="0" sldId="256"/>
            <ac:spMk id="6" creationId="{00000000-0000-0000-0000-000000000000}"/>
          </ac:spMkLst>
        </pc:spChg>
        <pc:graphicFrameChg chg="add del modGraphic">
          <ac:chgData name="SERGIO LÓPEZ GONZÁLEZ DEL REY" userId="b10740f97eedccef" providerId="LiveId" clId="{2279C30D-3B69-4D4F-A3FB-81E796C08E19}" dt="2026-07-01T06:30:04.411" v="19" actId="27309"/>
          <ac:graphicFrameMkLst>
            <pc:docMk/>
            <pc:sldMk cId="0" sldId="256"/>
            <ac:graphicFrameMk id="10" creationId="{5BB5BB86-A771-0F53-B989-41338DDA98D7}"/>
          </ac:graphicFrameMkLst>
        </pc:graphicFrameChg>
      </pc:sldChg>
      <pc:sldChg chg="modSp mod">
        <pc:chgData name="SERGIO LÓPEZ GONZÁLEZ DEL REY" userId="b10740f97eedccef" providerId="LiveId" clId="{2279C30D-3B69-4D4F-A3FB-81E796C08E19}" dt="2026-07-01T06:29:59.065" v="17" actId="20577"/>
        <pc:sldMkLst>
          <pc:docMk/>
          <pc:sldMk cId="0" sldId="257"/>
        </pc:sldMkLst>
        <pc:spChg chg="ord">
          <ac:chgData name="SERGIO LÓPEZ GONZÁLEZ DEL REY" userId="b10740f97eedccef" providerId="LiveId" clId="{2279C30D-3B69-4D4F-A3FB-81E796C08E19}" dt="2026-07-01T06:29:30.653" v="9" actId="166"/>
          <ac:spMkLst>
            <pc:docMk/>
            <pc:sldMk cId="0" sldId="257"/>
            <ac:spMk id="9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28:54.189" v="8" actId="1076"/>
          <ac:spMkLst>
            <pc:docMk/>
            <pc:sldMk cId="0" sldId="257"/>
            <ac:spMk id="11" creationId="{00000000-0000-0000-0000-000000000000}"/>
          </ac:spMkLst>
        </pc:spChg>
        <pc:spChg chg="ord">
          <ac:chgData name="SERGIO LÓPEZ GONZÁLEZ DEL REY" userId="b10740f97eedccef" providerId="LiveId" clId="{2279C30D-3B69-4D4F-A3FB-81E796C08E19}" dt="2026-07-01T06:29:39.375" v="10" actId="166"/>
          <ac:spMkLst>
            <pc:docMk/>
            <pc:sldMk cId="0" sldId="257"/>
            <ac:spMk id="13" creationId="{00000000-0000-0000-0000-000000000000}"/>
          </ac:spMkLst>
        </pc:spChg>
        <pc:spChg chg="ord">
          <ac:chgData name="SERGIO LÓPEZ GONZÁLEZ DEL REY" userId="b10740f97eedccef" providerId="LiveId" clId="{2279C30D-3B69-4D4F-A3FB-81E796C08E19}" dt="2026-07-01T06:29:44.073" v="11" actId="166"/>
          <ac:spMkLst>
            <pc:docMk/>
            <pc:sldMk cId="0" sldId="257"/>
            <ac:spMk id="17" creationId="{00000000-0000-0000-0000-000000000000}"/>
          </ac:spMkLst>
        </pc:spChg>
        <pc:spChg chg="ord">
          <ac:chgData name="SERGIO LÓPEZ GONZÁLEZ DEL REY" userId="b10740f97eedccef" providerId="LiveId" clId="{2279C30D-3B69-4D4F-A3FB-81E796C08E19}" dt="2026-07-01T06:29:49.219" v="12" actId="16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29:59.065" v="17" actId="20577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SERGIO LÓPEZ GONZÁLEZ DEL REY" userId="b10740f97eedccef" providerId="LiveId" clId="{2279C30D-3B69-4D4F-A3FB-81E796C08E19}" dt="2026-07-01T06:33:11.981" v="35" actId="20577"/>
        <pc:sldMkLst>
          <pc:docMk/>
          <pc:sldMk cId="0" sldId="258"/>
        </pc:sldMkLst>
        <pc:spChg chg="mod">
          <ac:chgData name="SERGIO LÓPEZ GONZÁLEZ DEL REY" userId="b10740f97eedccef" providerId="LiveId" clId="{2279C30D-3B69-4D4F-A3FB-81E796C08E19}" dt="2026-07-01T06:33:11.981" v="35" actId="20577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SERGIO LÓPEZ GONZÁLEZ DEL REY" userId="b10740f97eedccef" providerId="LiveId" clId="{2279C30D-3B69-4D4F-A3FB-81E796C08E19}" dt="2026-07-01T06:55:29.354" v="84" actId="20577"/>
        <pc:sldMkLst>
          <pc:docMk/>
          <pc:sldMk cId="0" sldId="259"/>
        </pc:sldMkLst>
        <pc:spChg chg="mod">
          <ac:chgData name="SERGIO LÓPEZ GONZÁLEZ DEL REY" userId="b10740f97eedccef" providerId="LiveId" clId="{2279C30D-3B69-4D4F-A3FB-81E796C08E19}" dt="2026-07-01T06:35:47.734" v="39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5:29.354" v="84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36:09.318" v="44" actId="20577"/>
          <ac:spMkLst>
            <pc:docMk/>
            <pc:sldMk cId="0" sldId="259"/>
            <ac:spMk id="23" creationId="{00000000-0000-0000-0000-000000000000}"/>
          </ac:spMkLst>
        </pc:spChg>
      </pc:sldChg>
      <pc:sldChg chg="modSp mod">
        <pc:chgData name="SERGIO LÓPEZ GONZÁLEZ DEL REY" userId="b10740f97eedccef" providerId="LiveId" clId="{2279C30D-3B69-4D4F-A3FB-81E796C08E19}" dt="2026-07-01T06:56:30.299" v="85" actId="1076"/>
        <pc:sldMkLst>
          <pc:docMk/>
          <pc:sldMk cId="0" sldId="260"/>
        </pc:sldMkLst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35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39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43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45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47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48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49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30.299" v="85" actId="1076"/>
          <ac:spMkLst>
            <pc:docMk/>
            <pc:sldMk cId="0" sldId="260"/>
            <ac:spMk id="50" creationId="{00000000-0000-0000-0000-000000000000}"/>
          </ac:spMkLst>
        </pc:spChg>
      </pc:sldChg>
      <pc:sldChg chg="modSp mod">
        <pc:chgData name="SERGIO LÓPEZ GONZÁLEZ DEL REY" userId="b10740f97eedccef" providerId="LiveId" clId="{2279C30D-3B69-4D4F-A3FB-81E796C08E19}" dt="2026-07-01T06:57:18.194" v="93" actId="20577"/>
        <pc:sldMkLst>
          <pc:docMk/>
          <pc:sldMk cId="0" sldId="261"/>
        </pc:sldMkLst>
        <pc:spChg chg="mod">
          <ac:chgData name="SERGIO LÓPEZ GONZÁLEZ DEL REY" userId="b10740f97eedccef" providerId="LiveId" clId="{2279C30D-3B69-4D4F-A3FB-81E796C08E19}" dt="2026-07-01T06:57:18.194" v="93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6:55.319" v="87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6:57:01.495" v="88" actId="1076"/>
          <ac:spMkLst>
            <pc:docMk/>
            <pc:sldMk cId="0" sldId="261"/>
            <ac:spMk id="39" creationId="{00000000-0000-0000-0000-000000000000}"/>
          </ac:spMkLst>
        </pc:spChg>
      </pc:sldChg>
      <pc:sldChg chg="addSp modSp mod">
        <pc:chgData name="SERGIO LÓPEZ GONZÁLEZ DEL REY" userId="b10740f97eedccef" providerId="LiveId" clId="{2279C30D-3B69-4D4F-A3FB-81E796C08E19}" dt="2026-07-01T07:09:34.586" v="133" actId="1076"/>
        <pc:sldMkLst>
          <pc:docMk/>
          <pc:sldMk cId="0" sldId="268"/>
        </pc:sldMkLst>
        <pc:spChg chg="mod">
          <ac:chgData name="SERGIO LÓPEZ GONZÁLEZ DEL REY" userId="b10740f97eedccef" providerId="LiveId" clId="{2279C30D-3B69-4D4F-A3FB-81E796C08E19}" dt="2026-07-01T07:09:03.531" v="125" actId="14100"/>
          <ac:spMkLst>
            <pc:docMk/>
            <pc:sldMk cId="0" sldId="268"/>
            <ac:spMk id="2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9:10.926" v="127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25.045" v="120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29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7:52.066" v="111" actId="1076"/>
          <ac:spMkLst>
            <pc:docMk/>
            <pc:sldMk cId="0" sldId="268"/>
            <ac:spMk id="36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43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33.891" v="121" actId="1076"/>
          <ac:spMkLst>
            <pc:docMk/>
            <pc:sldMk cId="0" sldId="268"/>
            <ac:spMk id="46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00.608" v="115" actId="1076"/>
          <ac:spMkLst>
            <pc:docMk/>
            <pc:sldMk cId="0" sldId="268"/>
            <ac:spMk id="51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7:56.296" v="113" actId="1076"/>
          <ac:spMkLst>
            <pc:docMk/>
            <pc:sldMk cId="0" sldId="268"/>
            <ac:spMk id="53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08:19.214" v="118" actId="1076"/>
          <ac:spMkLst>
            <pc:docMk/>
            <pc:sldMk cId="0" sldId="268"/>
            <ac:spMk id="56" creationId="{00000000-0000-0000-0000-000000000000}"/>
          </ac:spMkLst>
        </pc:spChg>
        <pc:spChg chg="add mod">
          <ac:chgData name="SERGIO LÓPEZ GONZÁLEZ DEL REY" userId="b10740f97eedccef" providerId="LiveId" clId="{2279C30D-3B69-4D4F-A3FB-81E796C08E19}" dt="2026-07-01T07:09:34.586" v="133" actId="1076"/>
          <ac:spMkLst>
            <pc:docMk/>
            <pc:sldMk cId="0" sldId="268"/>
            <ac:spMk id="57" creationId="{7BB2974A-69CE-5152-64E2-381323BB1A95}"/>
          </ac:spMkLst>
        </pc:spChg>
        <pc:picChg chg="mod">
          <ac:chgData name="SERGIO LÓPEZ GONZÁLEZ DEL REY" userId="b10740f97eedccef" providerId="LiveId" clId="{2279C30D-3B69-4D4F-A3FB-81E796C08E19}" dt="2026-07-01T07:08:11.004" v="117" actId="1076"/>
          <ac:picMkLst>
            <pc:docMk/>
            <pc:sldMk cId="0" sldId="268"/>
            <ac:picMk id="55" creationId="{00000000-0000-0000-0000-000000000000}"/>
          </ac:picMkLst>
        </pc:picChg>
      </pc:sldChg>
      <pc:sldChg chg="modSp mod">
        <pc:chgData name="SERGIO LÓPEZ GONZÁLEZ DEL REY" userId="b10740f97eedccef" providerId="LiveId" clId="{2279C30D-3B69-4D4F-A3FB-81E796C08E19}" dt="2026-07-01T07:04:51.874" v="100" actId="20577"/>
        <pc:sldMkLst>
          <pc:docMk/>
          <pc:sldMk cId="0" sldId="269"/>
        </pc:sldMkLst>
        <pc:spChg chg="mod">
          <ac:chgData name="SERGIO LÓPEZ GONZÁLEZ DEL REY" userId="b10740f97eedccef" providerId="LiveId" clId="{2279C30D-3B69-4D4F-A3FB-81E796C08E19}" dt="2026-07-01T07:04:51.874" v="100" actId="20577"/>
          <ac:spMkLst>
            <pc:docMk/>
            <pc:sldMk cId="0" sldId="269"/>
            <ac:spMk id="7" creationId="{00000000-0000-0000-0000-000000000000}"/>
          </ac:spMkLst>
        </pc:spChg>
      </pc:sldChg>
      <pc:sldChg chg="delSp modSp mod">
        <pc:chgData name="SERGIO LÓPEZ GONZÁLEZ DEL REY" userId="b10740f97eedccef" providerId="LiveId" clId="{2279C30D-3B69-4D4F-A3FB-81E796C08E19}" dt="2026-07-01T07:12:43.106" v="146" actId="1076"/>
        <pc:sldMkLst>
          <pc:docMk/>
          <pc:sldMk cId="0" sldId="270"/>
        </pc:sldMkLst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21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23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25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26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27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2:04.249" v="136" actId="478"/>
          <ac:spMkLst>
            <pc:docMk/>
            <pc:sldMk cId="0" sldId="270"/>
            <ac:spMk id="28" creationId="{00000000-0000-0000-0000-000000000000}"/>
          </ac:spMkLst>
        </pc:spChg>
        <pc:spChg chg="del mod">
          <ac:chgData name="SERGIO LÓPEZ GONZÁLEZ DEL REY" userId="b10740f97eedccef" providerId="LiveId" clId="{2279C30D-3B69-4D4F-A3FB-81E796C08E19}" dt="2026-07-01T07:12:07.155" v="138" actId="478"/>
          <ac:spMkLst>
            <pc:docMk/>
            <pc:sldMk cId="0" sldId="270"/>
            <ac:spMk id="29" creationId="{00000000-0000-0000-0000-000000000000}"/>
          </ac:spMkLst>
        </pc:spChg>
        <pc:picChg chg="mod">
          <ac:chgData name="SERGIO LÓPEZ GONZÁLEZ DEL REY" userId="b10740f97eedccef" providerId="LiveId" clId="{2279C30D-3B69-4D4F-A3FB-81E796C08E19}" dt="2026-07-01T07:12:43.106" v="146" actId="1076"/>
          <ac:picMkLst>
            <pc:docMk/>
            <pc:sldMk cId="0" sldId="270"/>
            <ac:picMk id="7" creationId="{00000000-0000-0000-0000-000000000000}"/>
          </ac:picMkLst>
        </pc:picChg>
      </pc:sldChg>
      <pc:sldChg chg="del">
        <pc:chgData name="SERGIO LÓPEZ GONZÁLEZ DEL REY" userId="b10740f97eedccef" providerId="LiveId" clId="{2279C30D-3B69-4D4F-A3FB-81E796C08E19}" dt="2026-07-01T07:14:32.359" v="147" actId="47"/>
        <pc:sldMkLst>
          <pc:docMk/>
          <pc:sldMk cId="0" sldId="273"/>
        </pc:sldMkLst>
      </pc:sldChg>
      <pc:sldChg chg="modSp del mod">
        <pc:chgData name="SERGIO LÓPEZ GONZÁLEZ DEL REY" userId="b10740f97eedccef" providerId="LiveId" clId="{2279C30D-3B69-4D4F-A3FB-81E796C08E19}" dt="2026-07-01T07:14:50.443" v="149" actId="47"/>
        <pc:sldMkLst>
          <pc:docMk/>
          <pc:sldMk cId="0" sldId="274"/>
        </pc:sldMkLst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21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24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27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28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30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31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32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33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35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4:42.941" v="148" actId="1076"/>
          <ac:spMkLst>
            <pc:docMk/>
            <pc:sldMk cId="0" sldId="274"/>
            <ac:spMk id="40" creationId="{00000000-0000-0000-0000-000000000000}"/>
          </ac:spMkLst>
        </pc:spChg>
      </pc:sldChg>
      <pc:sldChg chg="modSp mod">
        <pc:chgData name="SERGIO LÓPEZ GONZÁLEZ DEL REY" userId="b10740f97eedccef" providerId="LiveId" clId="{2279C30D-3B69-4D4F-A3FB-81E796C08E19}" dt="2026-07-01T07:15:53.216" v="152" actId="1076"/>
        <pc:sldMkLst>
          <pc:docMk/>
          <pc:sldMk cId="0" sldId="275"/>
        </pc:sldMkLst>
        <pc:spChg chg="mod">
          <ac:chgData name="SERGIO LÓPEZ GONZÁLEZ DEL REY" userId="b10740f97eedccef" providerId="LiveId" clId="{2279C30D-3B69-4D4F-A3FB-81E796C08E19}" dt="2026-07-01T07:15:53.216" v="152" actId="1076"/>
          <ac:spMkLst>
            <pc:docMk/>
            <pc:sldMk cId="0" sldId="275"/>
            <ac:spMk id="27" creationId="{00000000-0000-0000-0000-000000000000}"/>
          </ac:spMkLst>
        </pc:spChg>
        <pc:picChg chg="mod">
          <ac:chgData name="SERGIO LÓPEZ GONZÁLEZ DEL REY" userId="b10740f97eedccef" providerId="LiveId" clId="{2279C30D-3B69-4D4F-A3FB-81E796C08E19}" dt="2026-07-01T07:15:16.610" v="150" actId="1076"/>
          <ac:picMkLst>
            <pc:docMk/>
            <pc:sldMk cId="0" sldId="275"/>
            <ac:picMk id="28" creationId="{00000000-0000-0000-0000-000000000000}"/>
          </ac:picMkLst>
        </pc:picChg>
      </pc:sldChg>
      <pc:sldChg chg="delSp modSp mod">
        <pc:chgData name="SERGIO LÓPEZ GONZÁLEZ DEL REY" userId="b10740f97eedccef" providerId="LiveId" clId="{2279C30D-3B69-4D4F-A3FB-81E796C08E19}" dt="2026-07-01T07:16:39.291" v="161" actId="1076"/>
        <pc:sldMkLst>
          <pc:docMk/>
          <pc:sldMk cId="0" sldId="276"/>
        </pc:sldMkLst>
        <pc:spChg chg="del mod">
          <ac:chgData name="SERGIO LÓPEZ GONZÁLEZ DEL REY" userId="b10740f97eedccef" providerId="LiveId" clId="{2279C30D-3B69-4D4F-A3FB-81E796C08E19}" dt="2026-07-01T07:16:30.355" v="157"/>
          <ac:spMkLst>
            <pc:docMk/>
            <pc:sldMk cId="0" sldId="276"/>
            <ac:spMk id="12" creationId="{00000000-0000-0000-0000-000000000000}"/>
          </ac:spMkLst>
        </pc:spChg>
        <pc:spChg chg="del">
          <ac:chgData name="SERGIO LÓPEZ GONZÁLEZ DEL REY" userId="b10740f97eedccef" providerId="LiveId" clId="{2279C30D-3B69-4D4F-A3FB-81E796C08E19}" dt="2026-07-01T07:16:33.198" v="160" actId="478"/>
          <ac:spMkLst>
            <pc:docMk/>
            <pc:sldMk cId="0" sldId="276"/>
            <ac:spMk id="13" creationId="{00000000-0000-0000-0000-000000000000}"/>
          </ac:spMkLst>
        </pc:spChg>
        <pc:spChg chg="del mod">
          <ac:chgData name="SERGIO LÓPEZ GONZÁLEZ DEL REY" userId="b10740f97eedccef" providerId="LiveId" clId="{2279C30D-3B69-4D4F-A3FB-81E796C08E19}" dt="2026-07-01T07:16:30.355" v="159"/>
          <ac:spMkLst>
            <pc:docMk/>
            <pc:sldMk cId="0" sldId="276"/>
            <ac:spMk id="14" creationId="{00000000-0000-0000-0000-000000000000}"/>
          </ac:spMkLst>
        </pc:spChg>
        <pc:spChg chg="mod">
          <ac:chgData name="SERGIO LÓPEZ GONZÁLEZ DEL REY" userId="b10740f97eedccef" providerId="LiveId" clId="{2279C30D-3B69-4D4F-A3FB-81E796C08E19}" dt="2026-07-01T07:16:39.291" v="161" actId="1076"/>
          <ac:spMkLst>
            <pc:docMk/>
            <pc:sldMk cId="0" sldId="276"/>
            <ac:spMk id="15" creationId="{00000000-0000-0000-0000-000000000000}"/>
          </ac:spMkLst>
        </pc:spChg>
      </pc:sldChg>
      <pc:sldChg chg="del">
        <pc:chgData name="SERGIO LÓPEZ GONZÁLEZ DEL REY" userId="b10740f97eedccef" providerId="LiveId" clId="{2279C30D-3B69-4D4F-A3FB-81E796C08E19}" dt="2026-07-01T07:17:02.747" v="162" actId="47"/>
        <pc:sldMkLst>
          <pc:docMk/>
          <pc:sldMk cId="0" sldId="277"/>
        </pc:sldMkLst>
      </pc:sldChg>
      <pc:sldChg chg="del">
        <pc:chgData name="SERGIO LÓPEZ GONZÁLEZ DEL REY" userId="b10740f97eedccef" providerId="LiveId" clId="{2279C30D-3B69-4D4F-A3FB-81E796C08E19}" dt="2026-06-30T17:32:12.124" v="0" actId="2696"/>
        <pc:sldMkLst>
          <pc:docMk/>
          <pc:sldMk cId="0" sldId="278"/>
        </pc:sldMkLst>
      </pc:sldChg>
      <pc:sldChg chg="modSp add mod ord">
        <pc:chgData name="SERGIO LÓPEZ GONZÁLEZ DEL REY" userId="b10740f97eedccef" providerId="LiveId" clId="{2279C30D-3B69-4D4F-A3FB-81E796C08E19}" dt="2026-07-01T07:17:14.731" v="188" actId="20577"/>
        <pc:sldMkLst>
          <pc:docMk/>
          <pc:sldMk cId="780733139" sldId="278"/>
        </pc:sldMkLst>
        <pc:spChg chg="mod">
          <ac:chgData name="SERGIO LÓPEZ GONZÁLEZ DEL REY" userId="b10740f97eedccef" providerId="LiveId" clId="{2279C30D-3B69-4D4F-A3FB-81E796C08E19}" dt="2026-07-01T07:17:08.496" v="183" actId="20577"/>
          <ac:spMkLst>
            <pc:docMk/>
            <pc:sldMk cId="780733139" sldId="278"/>
            <ac:spMk id="4" creationId="{5607954A-A824-21E3-ECD0-B2A7F52B7FE7}"/>
          </ac:spMkLst>
        </pc:spChg>
        <pc:spChg chg="mod">
          <ac:chgData name="SERGIO LÓPEZ GONZÁLEZ DEL REY" userId="b10740f97eedccef" providerId="LiveId" clId="{2279C30D-3B69-4D4F-A3FB-81E796C08E19}" dt="2026-07-01T07:17:14.731" v="188" actId="20577"/>
          <ac:spMkLst>
            <pc:docMk/>
            <pc:sldMk cId="780733139" sldId="278"/>
            <ac:spMk id="6" creationId="{65E57847-A8C2-81C5-BDCD-6F30945E59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6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12191695" cy="54864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4FA8B8"/>
                </a:solidFill>
                <a:latin typeface="Calibri"/>
              </a:rPr>
              <a:t>TRABAJO FIN DE MÁSTER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Predicción de la expansión de variantes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de SARS-CoV-2 mediante aprendizaje automático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66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1" dirty="0">
                <a:solidFill>
                  <a:srgbClr val="CBE6EA"/>
                </a:solidFill>
                <a:latin typeface="Calibri"/>
              </a:rPr>
              <a:t>De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datos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crudos (GISAID +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secuenciación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ultra-profunda)</a:t>
            </a:r>
          </a:p>
          <a:p>
            <a:pPr algn="l">
              <a:lnSpc>
                <a:spcPct val="125000"/>
              </a:lnSpc>
            </a:pPr>
            <a:r>
              <a:rPr sz="1550" b="0" i="1" dirty="0">
                <a:solidFill>
                  <a:srgbClr val="CBE6EA"/>
                </a:solidFill>
                <a:latin typeface="Calibri"/>
              </a:rPr>
              <a:t>a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datasets,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modelos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y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resultados</a:t>
            </a:r>
            <a:r>
              <a:rPr lang="es-ES" sz="1550" i="1" dirty="0">
                <a:solidFill>
                  <a:srgbClr val="CBE6EA"/>
                </a:solidFill>
                <a:latin typeface="Calibri"/>
              </a:rPr>
              <a:t>, 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con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ejemplos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reales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en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cada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Sergio López González del Rey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FA8B8"/>
                </a:solidFill>
                <a:latin typeface="Calibri"/>
              </a:rPr>
              <a:t>Tutor: Manuel Sánchez-Montañés Isla  ·  Máster en Sistemas Interactivos Inteligentes  ·  UAM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Visión general: de los datos crudos a los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2/23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2121408" cy="329184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 · DATOS CRUDOS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FASTAs GISAID (17.5M secs)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+ metadatos TSV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+ Excel UDS (28 pacientes)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920240"/>
            <a:ext cx="2121408" cy="3291840"/>
          </a:xfrm>
          <a:prstGeom prst="rect">
            <a:avLst/>
          </a:prstGeom>
          <a:solidFill>
            <a:srgbClr val="16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2148840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 · PROCESADO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26080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Streaming + conteo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mutación×semana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(205,715 → 2,269 con señal)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920240"/>
            <a:ext cx="2121408" cy="3291840"/>
          </a:xfrm>
          <a:prstGeom prst="rect">
            <a:avLst/>
          </a:prstGeom>
          <a:solidFill>
            <a:srgbClr val="16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2148840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 · 7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926080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Clado / Familia / Mutación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× temporal+bio+mutacional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920240"/>
            <a:ext cx="2121408" cy="3291840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2148840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 · MODELOS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26080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LightGBM (4 sem)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+ Cox PH (supervivencia)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920240"/>
            <a:ext cx="2121408" cy="3291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2148840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 · VALIDACIÓN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926080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Ranking vigilancia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+ UDS biológica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E8F2F4"/>
                </a:solidFill>
                <a:latin typeface="Calibri"/>
              </a:rPr>
              <a:t>+ datos externos reales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94008" y="329184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dirty="0">
                <a:solidFill>
                  <a:srgbClr val="444444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486400"/>
            <a:ext cx="11338560" cy="61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0" i="1" dirty="0">
                <a:solidFill>
                  <a:srgbClr val="444444"/>
                </a:solidFill>
                <a:latin typeface="Calibri"/>
              </a:rPr>
              <a:t>Las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siguientes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diapositivas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recorren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cada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etapa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mostrando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datos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reales</a:t>
            </a:r>
            <a:r>
              <a:rPr lang="es-ES" sz="1450" b="0" i="1" dirty="0">
                <a:solidFill>
                  <a:srgbClr val="444444"/>
                </a:solidFill>
                <a:latin typeface="Calibri"/>
              </a:rPr>
              <a:t>,</a:t>
            </a:r>
            <a:endParaRPr sz="1450" b="0" i="1" dirty="0">
              <a:solidFill>
                <a:srgbClr val="444444"/>
              </a:solidFill>
              <a:latin typeface="Calibri"/>
            </a:endParaRPr>
          </a:p>
          <a:p>
            <a:pPr algn="ctr">
              <a:lnSpc>
                <a:spcPct val="120000"/>
              </a:lnSpc>
            </a:pPr>
            <a:r>
              <a:rPr sz="1450" b="0" i="1" dirty="0">
                <a:solidFill>
                  <a:srgbClr val="444444"/>
                </a:solidFill>
                <a:latin typeface="Calibri"/>
              </a:rPr>
              <a:t>no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resúmenes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abstractos</a:t>
            </a:r>
            <a:r>
              <a:rPr lang="es-ES" sz="1450" i="1" dirty="0">
                <a:solidFill>
                  <a:srgbClr val="444444"/>
                </a:solidFill>
                <a:latin typeface="Calibri"/>
              </a:rPr>
              <a:t>,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tal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y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entran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y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salen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cada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b="0" i="1" dirty="0" err="1">
                <a:solidFill>
                  <a:srgbClr val="444444"/>
                </a:solidFill>
                <a:latin typeface="Calibri"/>
              </a:rPr>
              <a:t>fase</a:t>
            </a:r>
            <a:r>
              <a:rPr sz="1450" b="0" i="1" dirty="0">
                <a:solidFill>
                  <a:srgbClr val="444444"/>
                </a:solidFill>
                <a:latin typeface="Calibri"/>
              </a:rPr>
              <a:t> del notebook.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329184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dirty="0">
                <a:solidFill>
                  <a:srgbClr val="444444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29184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dirty="0">
                <a:solidFill>
                  <a:srgbClr val="444444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329184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dirty="0">
                <a:solidFill>
                  <a:srgbClr val="444444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29184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dirty="0">
                <a:solidFill>
                  <a:srgbClr val="444444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DATOS CRUDOS ·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FASTAs de GISAID: la materia prima genómica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3/23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3D4D"/>
                </a:solidFill>
                <a:latin typeface="Calibri"/>
              </a:rPr>
              <a:t>Dos genes se descargan como secuencias FASTA independientes: Spike (proteína de superficie) y NSP12 (polimerasa viral).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1155680" cy="155448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D8E8EA"/>
                </a:solidFill>
                <a:latin typeface="Consolas"/>
              </a:rPr>
              <a:t>&gt;hCoV-19/Germany/SN-RKI-I-745793/2022|2022-03-18|2022-04-28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8E8EA"/>
                </a:solidFill>
                <a:latin typeface="Consolas"/>
              </a:rPr>
              <a:t>TGCTGTAGATGCTGCTAAAGCTTACAAAGATTATCTAGCTAGTGGGGGACAACCAATCACT...</a:t>
            </a:r>
          </a:p>
          <a:p>
            <a:pPr>
              <a:lnSpc>
                <a:spcPct val="115000"/>
              </a:lnSpc>
            </a:pPr>
            <a:endParaRPr sz="1300">
              <a:solidFill>
                <a:srgbClr val="D8E8EA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8E8EA"/>
                </a:solidFill>
                <a:latin typeface="Consolas"/>
              </a:rPr>
              <a:t>&gt;hCoV-19/Israel/ICH-741216991/2022|2022-04-09|2022-04-28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D8E8EA"/>
                </a:solidFill>
                <a:latin typeface="Consolas"/>
              </a:rPr>
              <a:t>GCGGTATGTGGAAAGGTTATGGCTGTAGTTGTGATCAACTCCGCGAACCCATGCTTCAGTC...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118872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3520440"/>
            <a:ext cx="429768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Archivo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3520440"/>
            <a:ext cx="182880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Tamaño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520440"/>
            <a:ext cx="219456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Secuencias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12680" y="3520440"/>
            <a:ext cx="164592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Long. mediana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04488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NSP12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3904488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GISAID_NSP12_…2026_02_22.zip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90448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1.22 GB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3904488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17.555.308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0" y="3904488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3.556 bp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88536"/>
            <a:ext cx="118872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Spike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4288536"/>
            <a:ext cx="429768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GISAID_Spike_…2026_02_22.zip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288536"/>
            <a:ext cx="18288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2.37 GB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4288536"/>
            <a:ext cx="219456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16.849.453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4288536"/>
            <a:ext cx="164592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4.683 bp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37760"/>
            <a:ext cx="11155680" cy="932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dirty="0">
                <a:solidFill>
                  <a:srgbClr val="444444"/>
                </a:solidFill>
                <a:latin typeface="Calibri"/>
              </a:rPr>
              <a:t>●  El header de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cada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secuencia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codifica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: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país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, ID de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aislado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,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fecha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colección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fecha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envío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a GISAID.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dirty="0">
                <a:solidFill>
                  <a:srgbClr val="444444"/>
                </a:solidFill>
                <a:latin typeface="Calibri"/>
              </a:rPr>
              <a:t>●  A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partir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aquí</a:t>
            </a:r>
            <a:r>
              <a:rPr sz="1450" dirty="0">
                <a:solidFill>
                  <a:srgbClr val="444444"/>
                </a:solidFill>
                <a:latin typeface="Calibri"/>
              </a:rPr>
              <a:t>, GISAID no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entrega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"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mutaciones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"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directamente</a:t>
            </a:r>
            <a:r>
              <a:rPr lang="es-ES" sz="1450" dirty="0">
                <a:solidFill>
                  <a:srgbClr val="444444"/>
                </a:solidFill>
                <a:latin typeface="Calibri"/>
              </a:rPr>
              <a:t>, </a:t>
            </a:r>
            <a:r>
              <a:rPr sz="1450" dirty="0">
                <a:solidFill>
                  <a:srgbClr val="444444"/>
                </a:solidFill>
                <a:latin typeface="Calibri"/>
              </a:rPr>
              <a:t>se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calculan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comparando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cada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secuencia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contra la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referencia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de Wuhan (campo AA Substitutions del TSV de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metadatos</a:t>
            </a:r>
            <a:r>
              <a:rPr sz="1450" dirty="0">
                <a:solidFill>
                  <a:srgbClr val="444444"/>
                </a:solidFill>
                <a:latin typeface="Calibri"/>
              </a:rPr>
              <a:t>,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ver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siguiente</a:t>
            </a:r>
            <a:r>
              <a:rPr sz="1450" dirty="0">
                <a:solidFill>
                  <a:srgbClr val="444444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444444"/>
                </a:solidFill>
                <a:latin typeface="Calibri"/>
              </a:rPr>
              <a:t>diapositiva</a:t>
            </a:r>
            <a:r>
              <a:rPr sz="1450" dirty="0">
                <a:solidFill>
                  <a:srgbClr val="444444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DATOS CRUDOS ·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El TSV de metadatos: 17 millones de filas en streaming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4/23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0B3D4D"/>
                </a:solidFill>
                <a:latin typeface="Calibri"/>
              </a:rPr>
              <a:t>El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fichero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de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metadatos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no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cabe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en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memoria </a:t>
            </a:r>
            <a:r>
              <a:rPr lang="es-ES" sz="1500" b="1" dirty="0">
                <a:solidFill>
                  <a:srgbClr val="0B3D4D"/>
                </a:solidFill>
                <a:latin typeface="Calibri"/>
              </a:rPr>
              <a:t>, 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se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procesa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en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bloques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("chunks") de 200.000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filas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44444"/>
                </a:solidFill>
                <a:latin typeface="Calibri"/>
              </a:rPr>
              <a:t>Para cada secuencia, el campo clave 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10881360" cy="91440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lnSpc>
                <a:spcPct val="115000"/>
              </a:lnSpc>
            </a:pPr>
            <a:r>
              <a:rPr sz="1400">
                <a:solidFill>
                  <a:srgbClr val="D8E8EA"/>
                </a:solidFill>
                <a:latin typeface="Consolas"/>
              </a:rPr>
              <a:t>AA Substitutions = (Spike_S371L, Spike_S373P, Spike_N679K, NSP3_T24I, NSP4_L264F,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44444"/>
                </a:solidFill>
                <a:latin typeface="Calibri"/>
              </a:rPr>
              <a:t>Resultado tras procesar las 17.152.411 filas (46 min):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57600"/>
            <a:ext cx="676656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3657600"/>
            <a:ext cx="411480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r"/>
            <a:r>
              <a:rPr sz="1250" b="1">
                <a:solidFill>
                  <a:srgbClr val="FFFFFF"/>
                </a:solidFill>
                <a:latin typeface="Calibri"/>
              </a:rPr>
              <a:t>Valor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41648"/>
            <a:ext cx="6766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 dirty="0">
                <a:solidFill>
                  <a:srgbClr val="0B3D4D"/>
                </a:solidFill>
                <a:latin typeface="Calibri"/>
              </a:rPr>
              <a:t>Filas </a:t>
            </a:r>
            <a:r>
              <a:rPr sz="1250" b="0" dirty="0" err="1">
                <a:solidFill>
                  <a:srgbClr val="0B3D4D"/>
                </a:solidFill>
                <a:latin typeface="Calibri"/>
              </a:rPr>
              <a:t>procesadas</a:t>
            </a:r>
            <a:r>
              <a:rPr sz="1250" b="0" dirty="0">
                <a:solidFill>
                  <a:srgbClr val="0B3D4D"/>
                </a:solidFill>
                <a:latin typeface="Calibri"/>
              </a:rPr>
              <a:t> (con </a:t>
            </a:r>
            <a:r>
              <a:rPr sz="1250" b="0" dirty="0" err="1">
                <a:solidFill>
                  <a:srgbClr val="0B3D4D"/>
                </a:solidFill>
                <a:latin typeface="Calibri"/>
              </a:rPr>
              <a:t>fecha</a:t>
            </a:r>
            <a:r>
              <a:rPr sz="1250" b="0" dirty="0">
                <a:solidFill>
                  <a:srgbClr val="0B3D4D"/>
                </a:solidFill>
                <a:latin typeface="Calibri"/>
              </a:rPr>
              <a:t> + </a:t>
            </a:r>
            <a:r>
              <a:rPr sz="1250" b="0" dirty="0" err="1">
                <a:solidFill>
                  <a:srgbClr val="0B3D4D"/>
                </a:solidFill>
                <a:latin typeface="Calibri"/>
              </a:rPr>
              <a:t>clado</a:t>
            </a:r>
            <a:r>
              <a:rPr sz="1250" b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0B3D4D"/>
                </a:solidFill>
                <a:latin typeface="Calibri"/>
              </a:rPr>
              <a:t>válidos</a:t>
            </a:r>
            <a:r>
              <a:rPr sz="1250" b="0" dirty="0">
                <a:solidFill>
                  <a:srgbClr val="0B3D4D"/>
                </a:solidFill>
                <a:latin typeface="Calibri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4041648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r"/>
            <a:r>
              <a:rPr sz="1250" b="0">
                <a:solidFill>
                  <a:srgbClr val="444444"/>
                </a:solidFill>
                <a:latin typeface="Calibri"/>
              </a:rPr>
              <a:t>17.152.411  (100,0%)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25696"/>
            <a:ext cx="676656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lang="es-ES" sz="1250" dirty="0" err="1">
                <a:solidFill>
                  <a:srgbClr val="0B3D4D"/>
                </a:solidFill>
                <a:latin typeface="Calibri"/>
              </a:rPr>
              <a:t>Sub-linajes</a:t>
            </a:r>
            <a:r>
              <a:rPr lang="es-ES" sz="1250" dirty="0">
                <a:solidFill>
                  <a:srgbClr val="0B3D4D"/>
                </a:solidFill>
                <a:latin typeface="Calibri"/>
              </a:rPr>
              <a:t> Pango </a:t>
            </a:r>
            <a:r>
              <a:rPr sz="1250" b="0" dirty="0" err="1">
                <a:solidFill>
                  <a:srgbClr val="0B3D4D"/>
                </a:solidFill>
                <a:latin typeface="Calibri"/>
              </a:rPr>
              <a:t>únicos</a:t>
            </a:r>
            <a:endParaRPr sz="1250" b="0" dirty="0">
              <a:solidFill>
                <a:srgbClr val="0B3D4D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69480" y="4425696"/>
            <a:ext cx="41148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r"/>
            <a:r>
              <a:rPr sz="1250" b="0" dirty="0">
                <a:solidFill>
                  <a:srgbClr val="444444"/>
                </a:solidFill>
                <a:latin typeface="Calibri"/>
              </a:rPr>
              <a:t>4.883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09744"/>
            <a:ext cx="6766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Familias Pango únicas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4809744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r"/>
            <a:r>
              <a:rPr sz="1250" b="0">
                <a:solidFill>
                  <a:srgbClr val="444444"/>
                </a:solidFill>
                <a:latin typeface="Calibri"/>
              </a:rPr>
              <a:t>448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193792"/>
            <a:ext cx="676656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Semanas con datos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193792"/>
            <a:ext cx="41148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r"/>
            <a:r>
              <a:rPr sz="1250" b="0">
                <a:solidFill>
                  <a:srgbClr val="444444"/>
                </a:solidFill>
                <a:latin typeface="Calibri"/>
              </a:rPr>
              <a:t>322  (dic. 2019 → feb. 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77840"/>
            <a:ext cx="67665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Mutaciones únicas detectadas (en bruto)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5577840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r"/>
            <a:r>
              <a:rPr sz="1250" b="0">
                <a:solidFill>
                  <a:srgbClr val="444444"/>
                </a:solidFill>
                <a:latin typeface="Calibri"/>
              </a:rPr>
              <a:t>205.715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0881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 dirty="0">
                <a:solidFill>
                  <a:srgbClr val="444444"/>
                </a:solidFill>
                <a:latin typeface="Calibri"/>
              </a:rPr>
              <a:t>Cada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secuencia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se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acumula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4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contadores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(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clado×semana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familia×semana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mutación×semana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familia×mutación×semana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)</a:t>
            </a:r>
            <a:r>
              <a:rPr lang="es-ES" sz="1300" b="0" i="1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la base de </a:t>
            </a:r>
            <a:r>
              <a:rPr sz="1300" b="0" i="1" dirty="0" err="1">
                <a:solidFill>
                  <a:srgbClr val="444444"/>
                </a:solidFill>
                <a:latin typeface="Calibri"/>
              </a:rPr>
              <a:t>todas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 las matrices posteriores.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DATOS CRUDOS → CONTEOS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Ejemplo real: una semana de vigilancia (2026-02-02)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5/23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3D4D"/>
                </a:solidFill>
                <a:latin typeface="Calibri"/>
              </a:rPr>
              <a:t>233 secuencias depositadas esa semana, repartidas en 5 familias Pango: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256032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Familia Pango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737360"/>
            <a:ext cx="164592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737360"/>
            <a:ext cx="228600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Secuencias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737360"/>
            <a:ext cx="228600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% semana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21408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XFG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121408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25C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12140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212140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53,2%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05456"/>
            <a:ext cx="256032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NB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2505456"/>
            <a:ext cx="164592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505456"/>
            <a:ext cx="22860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2505456"/>
            <a:ext cx="22860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12,4%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89504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PQ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889504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889504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2889504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12,4%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73552"/>
            <a:ext cx="256032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LF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3273552"/>
            <a:ext cx="164592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273552"/>
            <a:ext cx="22860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3273552"/>
            <a:ext cx="22860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3,4%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5760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XFC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657600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3657600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3657600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3,0%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605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3D4D"/>
                </a:solidFill>
                <a:latin typeface="Calibri"/>
              </a:rPr>
              <a:t>Mutaciones más frecuentes dentro de la familia dominante (XFG, 124 secuencias):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81144"/>
            <a:ext cx="2926080" cy="310896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Mutación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4581144"/>
            <a:ext cx="2286000" cy="310896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Secuencias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4581144"/>
            <a:ext cx="2286000" cy="310896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% en XFG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92040"/>
            <a:ext cx="2926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M_A63T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4892040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4892040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100,0%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202936"/>
            <a:ext cx="292608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M_D3H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5202936"/>
            <a:ext cx="228600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5202936"/>
            <a:ext cx="228600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100,0%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513832"/>
            <a:ext cx="2926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M_Q19E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5513832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0" y="5513832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100,0%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824728"/>
            <a:ext cx="292608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NS3_T223I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5824728"/>
            <a:ext cx="228600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5824728"/>
            <a:ext cx="228600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100,0%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135624"/>
            <a:ext cx="29260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NSP12_P323L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9000" y="6135624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0" y="6135624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100,0%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LIMPIEZA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De 205.715 mutaciones brutas a 2.269 con señal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6/23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383280" cy="17373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777777"/>
                </a:solidFill>
                <a:latin typeface="Calibri"/>
              </a:rPr>
              <a:t>205.715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mutaciones únicas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detectadas en bruto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17320"/>
            <a:ext cx="3383280" cy="17373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1554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C0392B"/>
                </a:solidFill>
                <a:latin typeface="Calibri"/>
              </a:rPr>
              <a:t>203.446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23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descartadas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(ruido o ya fijadas)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417320"/>
            <a:ext cx="3383280" cy="17373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1554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E864A"/>
                </a:solidFill>
                <a:latin typeface="Calibri"/>
              </a:rPr>
              <a:t>2.269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423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mutaciones con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señal temporal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11064240" cy="579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dirty="0">
                <a:solidFill>
                  <a:srgbClr val="444444"/>
                </a:solidFill>
                <a:latin typeface="Calibri"/>
              </a:rPr>
              <a:t>● 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Criterio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varianza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temporal de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frecuencia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el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periodo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entrenamiento</a:t>
            </a:r>
            <a:r>
              <a:rPr lang="es-ES" sz="15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mutación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fijada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al 99%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desde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el principio (sin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variación</a:t>
            </a:r>
            <a:r>
              <a:rPr sz="1500" dirty="0">
                <a:solidFill>
                  <a:srgbClr val="444444"/>
                </a:solidFill>
                <a:latin typeface="Calibri"/>
              </a:rPr>
              <a:t>) no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aporta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señal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predictiva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igual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presente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 sola </a:t>
            </a:r>
            <a:r>
              <a:rPr sz="1500" dirty="0" err="1">
                <a:solidFill>
                  <a:srgbClr val="444444"/>
                </a:solidFill>
                <a:latin typeface="Calibri"/>
              </a:rPr>
              <a:t>secuencia</a:t>
            </a:r>
            <a:r>
              <a:rPr sz="150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245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3D4D"/>
                </a:solidFill>
                <a:latin typeface="Calibri"/>
              </a:rPr>
              <a:t>Top-10 mutaciones por varianza temporal (las de mayor poder discriminante):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54296"/>
            <a:ext cx="731520" cy="310896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4654296"/>
            <a:ext cx="3200400" cy="310896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Mutación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4654296"/>
            <a:ext cx="3108960" cy="310896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Varianza (train)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654296"/>
            <a:ext cx="3108960" cy="310896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Frecuencia máx. global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65192"/>
            <a:ext cx="7315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4965192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Spike_N679K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965192"/>
            <a:ext cx="31089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0,235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4965192"/>
            <a:ext cx="31089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0,995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76088"/>
            <a:ext cx="73152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5276088"/>
            <a:ext cx="320040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Spike_D796Y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276088"/>
            <a:ext cx="310896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0,229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5276088"/>
            <a:ext cx="310896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0,989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86984"/>
            <a:ext cx="7315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5586984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Spike_E484A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5586984"/>
            <a:ext cx="31089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0,213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5586984"/>
            <a:ext cx="31089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0,967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3152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5897880"/>
            <a:ext cx="320040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Spike_Y505H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5897880"/>
            <a:ext cx="310896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0,211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5897880"/>
            <a:ext cx="3108960" cy="310896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0,969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208776"/>
            <a:ext cx="7315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00" b="0">
                <a:solidFill>
                  <a:srgbClr val="0B3D4D"/>
                </a:solidFill>
                <a:latin typeface="Calibr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6208776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NSP13_R392C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6208776"/>
            <a:ext cx="31089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0,206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6208776"/>
            <a:ext cx="310896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0,998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DATOS CRUDOS · UDS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Excel de secuenciación ultra-profunda: hoja "Pacientes"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7/23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3D4D"/>
                </a:solidFill>
                <a:latin typeface="Calibri"/>
              </a:rPr>
              <a:t>28 pacientes hospitalarios; por cada amplicón secuenciado se listan los haplotipos minoritarios detectados (variantes coexistiendo con la cepa dominante de la infección).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640080" cy="45720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Ola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783080"/>
            <a:ext cx="1097280" cy="45720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Paciente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783080"/>
            <a:ext cx="1280160" cy="45720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Fecha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1463040" cy="45720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Amplicón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783080"/>
            <a:ext cx="914400" cy="45720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Haplo.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783080"/>
            <a:ext cx="914400" cy="45720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Frec.%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783080"/>
            <a:ext cx="1463040" cy="45720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Mutación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783080"/>
            <a:ext cx="3383280" cy="45720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Clado discordante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24028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1ª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224028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Pt441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224028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2020-04-07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2402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Nsp12 A2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224028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224028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0,20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2402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T15009C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2240280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22C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697480"/>
            <a:ext cx="640080" cy="45720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51560" y="2697480"/>
            <a:ext cx="1097280" cy="45720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48840" y="2697480"/>
            <a:ext cx="1280160" cy="45720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29000" y="2697480"/>
            <a:ext cx="1463040" cy="45720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Nsp12 A4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2697480"/>
            <a:ext cx="914400" cy="45720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46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2697480"/>
            <a:ext cx="914400" cy="45720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0,20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2697480"/>
            <a:ext cx="1463040" cy="45720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C15738T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2697480"/>
            <a:ext cx="3383280" cy="45720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22F,23A,23B,23D,23E,23F,23G,23H,24D,25B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15468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1ª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315468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Pt012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8840" y="315468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2020-04-17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31546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Nsp12 A2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315468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315468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12,65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31546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C15240T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80" y="3154680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21K, 21M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023360"/>
            <a:ext cx="11338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>
                <a:solidFill>
                  <a:srgbClr val="444444"/>
                </a:solidFill>
                <a:latin typeface="Calibri"/>
              </a:rPr>
              <a:t>●  Fila Pt441/C15738T: esta mutación aparece como "discordante" en 10 clados distintos abarcando 2022–2025 — es una mutación homoplásica (recurrente), no anticipatoria. El filtro de especificidad (diapositiva 18) la descarta.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>
                <a:solidFill>
                  <a:srgbClr val="444444"/>
                </a:solidFill>
                <a:latin typeface="Calibri"/>
              </a:rPr>
              <a:t>●  Fila Pt012: un haplotipo minoritario a 12,65% (inusualmente alto) lleva la mutación C15240T, discordante solo con 21K y 21M (ambos Omicron) — caso de alta especificidad, candidato a señal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DATOS CRUDOS · UDS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Excel UDS: hoja "Datos clados" — fechas de emergencia poblacional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8/23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3D4D"/>
                </a:solidFill>
                <a:latin typeface="Calibri"/>
              </a:rPr>
              <a:t>Para cada clado Nextclade, la fecha en la que se detectó por primera vez en la población mundial (GISAID) y su etiqueta OMS si la tiene: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64592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783080"/>
            <a:ext cx="256032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Etiqueta OMS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783080"/>
            <a:ext cx="256032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Fecha de inicio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1783080"/>
            <a:ext cx="429768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Secuencias totales (feb-2026)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4884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21F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148840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Iota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148840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2021-02-01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2148840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37.894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14600"/>
            <a:ext cx="16459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21H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2514600"/>
            <a:ext cx="25603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514600"/>
            <a:ext cx="25603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2021-04-01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514600"/>
            <a:ext cx="42976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6.393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8036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21K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2880360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Omicron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880360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2021-12-01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2880360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1.653.981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46120"/>
            <a:ext cx="16459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21M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246120"/>
            <a:ext cx="25603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Omicron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246120"/>
            <a:ext cx="25603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2021-12-01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3246120"/>
            <a:ext cx="42976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2.660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1188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22A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3611880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Omicron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3611880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2022-05-01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3611880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100.470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77640"/>
            <a:ext cx="16459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22C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3977640"/>
            <a:ext cx="25603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Omicron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3977640"/>
            <a:ext cx="25603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2022-04-01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3977640"/>
            <a:ext cx="42976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178.204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34340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22E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4343400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Omicron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4343400"/>
            <a:ext cx="2560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2022-09-01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343400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208.261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444444"/>
                </a:solidFill>
                <a:latin typeface="Calibri"/>
              </a:rPr>
              <a:t>●  Estas fechas son el ancla temporal del análisis de lead-time: comparar cuándo un paciente porta ya una mutación frente a cuándo esa mutación domina la población.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444444"/>
                </a:solidFill>
                <a:latin typeface="Calibri"/>
              </a:rPr>
              <a:t>●  Estos 7 clados son precisamente los que aparecen anticipados en los pacientes UDS (diapositiva 19) — todos corresponden a sub-linajes de Omicron, salvo Iota y Mu.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CONSTRUCCIÓN DE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De los conteos crudos a 7 datasets de entrenamiento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9/23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55448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188720"/>
            <a:ext cx="246888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Entidad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146304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Filas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88720"/>
            <a:ext cx="137160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188720"/>
            <a:ext cx="137160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188720"/>
            <a:ext cx="155448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% positivos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1188720"/>
            <a:ext cx="128016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5448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M1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554480"/>
            <a:ext cx="24688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Clado Nextclade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55448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1.391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55448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689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55448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702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55448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28,3%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1554480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20240"/>
            <a:ext cx="1554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M1-BIO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1920240"/>
            <a:ext cx="24688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Clado Nextclade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1920240"/>
            <a:ext cx="146304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1.391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192024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689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192024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702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1920240"/>
            <a:ext cx="1554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28,3%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1920240"/>
            <a:ext cx="128016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28600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M1-SPNSP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286000"/>
            <a:ext cx="24688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Clado Nextclade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28600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1.391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28600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689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28600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702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228600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28,3%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49840" y="2286000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651760"/>
            <a:ext cx="1554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M2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2651760"/>
            <a:ext cx="24688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Familia Pango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651760"/>
            <a:ext cx="146304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12.380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265176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6.123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265176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6.257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2651760"/>
            <a:ext cx="1554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13,5%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2651760"/>
            <a:ext cx="128016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1752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M2-SPNSP30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20240" y="3017520"/>
            <a:ext cx="24688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Familia Pango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01752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12.380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301752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6.123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301752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6.257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301752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13,5%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49840" y="3017520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51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383280"/>
            <a:ext cx="1554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M3-SPNSP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3383280"/>
            <a:ext cx="24688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Mutación Spike/NSP12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3383280"/>
            <a:ext cx="146304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104.335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338328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53.461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338328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50.874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3383280"/>
            <a:ext cx="1554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19,1%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49840" y="3383280"/>
            <a:ext cx="128016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74904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M3-ALL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20240" y="3749040"/>
            <a:ext cx="24688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Mutación (genoma)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374904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422.505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37490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236.768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23760" y="37490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185.737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60" y="374904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14,0%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49840" y="3749040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5262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●  Tres niveles de granularidad biológica: clado Nextclade (filogenético fino) → familia Pango (estándar epidemiológico) → mutación individual (atómico, permite evolución convergente entre familias).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●  "Target = 1" significa: esa entidad, estando hoy en frecuencia baja, alcanzará un umbral de relevancia (5% clados/familias, 30% mutaciones) en algún momento del futuro observado.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DICCIONARIO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M1 → M1-BIO → M1-SPNSP — todas las columnas (nivel clado)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10/23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777777"/>
                </a:solidFill>
                <a:latin typeface="Calibri"/>
              </a:rPr>
              <a:t>Ejemplo: clado 25C, sem. 2025-04-28 (temporal)  ·  clado 24C, sem. 2024-03-18 (bio+mutacional)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28600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Columna (×15 temporal)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301752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Qué mide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371600"/>
            <a:ext cx="91440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2788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freq_t0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732788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Frecuencia relativa esta semana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732788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3,60%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93976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freq_4w_ago / freq_2w_ago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093976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Frecuencia hace 4 / 2 semanas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093976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55164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freq_mean_8w / freq_std_8w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455164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Media / desv. típica, últimas 8 sem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455164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16352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slope_8w / slope_4w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816352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Pendiente de tendencia (8 / 4 sem)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816352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77540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accel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177540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slope_4w − slope_8w (¿acelera?)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177540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38728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log_growth_8w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538728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log-crecimiento vs. hace 8 semanas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538728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+2,404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99916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log_growth_4w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899916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log-crecimiento vs. hace 4 semanas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899916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61104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n_active_8w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61104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Nº semanas con presencia, últimas 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261104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22292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age_weeks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4622292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Semanas desde la 1ª detección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622292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983480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peak_hist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983480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Frecuencia máxima alcanzada hasta hoy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4983480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44668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n_countries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5344668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Nº de países donde circula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5344668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705856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geo_growth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5705856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Δ nº países, últimas 4 semanas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5705856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1371600"/>
            <a:ext cx="210312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Columna (×6 bio)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9640" y="1371600"/>
            <a:ext cx="260604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Qué mide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155680" y="1371600"/>
            <a:ext cx="86868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1732788"/>
            <a:ext cx="2103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mean_hamming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1732788"/>
            <a:ext cx="260604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Distancia genética media a Wuhan-ref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155680" y="1732788"/>
            <a:ext cx="86868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904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2093976"/>
            <a:ext cx="21031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mean_spike_muts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49640" y="2093976"/>
            <a:ext cx="260604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Nº medio de mutaciones en Spike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155680" y="2093976"/>
            <a:ext cx="86868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2455164"/>
            <a:ext cx="2103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pct_rbd_muts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49640" y="2455164"/>
            <a:ext cx="260604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% de esas mutaciones en el RBD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155680" y="2455164"/>
            <a:ext cx="86868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816352"/>
            <a:ext cx="21031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pct_furin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49640" y="2816352"/>
            <a:ext cx="260604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% en el sitio de corte de furina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155680" y="2816352"/>
            <a:ext cx="86868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3177540"/>
            <a:ext cx="2103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n_escape_muts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49640" y="3177540"/>
            <a:ext cx="260604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Nº mutaciones de escape inmune conocidas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155680" y="3177540"/>
            <a:ext cx="86868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538728"/>
            <a:ext cx="21031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mut_diversity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49640" y="3538728"/>
            <a:ext cx="260604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Diversidad mutacional normalizada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55680" y="3538728"/>
            <a:ext cx="86868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46520" y="4069080"/>
            <a:ext cx="5577840" cy="1874519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46520" y="4069080"/>
            <a:ext cx="5577840" cy="6400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629400" y="4206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3D4D"/>
                </a:solidFill>
                <a:latin typeface="Calibri"/>
              </a:rPr>
              <a:t>M1-SPNSP añade 30 columnas más: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29400" y="4572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44444"/>
                </a:solidFill>
                <a:latin typeface="Calibri"/>
              </a:rPr>
              <a:t>mut_Spike_XXX / mut_NSP12_XXX — frecuencia de cada una de las 30 mutaciones top dentro del clado.</a:t>
            </a:r>
          </a:p>
          <a:p>
            <a:pPr algn="l">
              <a:lnSpc>
                <a:spcPct val="125000"/>
              </a:lnSpc>
            </a:pPr>
            <a:endParaRPr sz="1250" b="0" i="0">
              <a:solidFill>
                <a:srgbClr val="444444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44444"/>
                </a:solidFill>
                <a:latin typeface="Calibri"/>
              </a:rPr>
              <a:t>Ejemplo (clado 24C): mut_Spike_N679K = 0,984  ·  mut_Spike_D796Y = 0,922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777777"/>
                </a:solidFill>
                <a:latin typeface="Calibri"/>
              </a:rPr>
              <a:t>M1 = 15 cols  ·  M1-BIO = 21 cols (15+6)  ·  M1-SPNSP = 51 cols (21+30)   —   "—" = recalculada igual para cada fila, no mostrada en este recorte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DICCIONARIO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M2 → M2-SPNSP30 — todas las columnas (nivel familia Pango)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11/23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777777"/>
                </a:solidFill>
                <a:latin typeface="Calibri"/>
              </a:rPr>
              <a:t>Ejemplo real: familia XFG, semana 2026-01-12 (misma fila en datasets y ranking)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28600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Columna (×15 temporal)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301752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Qué mide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371600"/>
            <a:ext cx="91440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Ejemplo (XFG)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2788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freq_t0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732788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Frecuencia relativa esta semana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732788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62,50%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93976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freq_4w_ago / freq_2w_ago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093976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Frecuencia hace 4 / 2 semanas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093976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55164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freq_mean_8w / freq_std_8w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455164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Media / desv. típica, últimas 8 sem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455164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16352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slope_8w / slope_4w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816352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Pendiente de tendencia (8 / 4 sem)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816352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77540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accel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177540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slope_4w − slope_8w (¿acelera?)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177540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38728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log_growth_8w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538728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log-crecimiento vs. hace 8 semanas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538728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-0,100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99916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log_growth_4w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899916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log-crecimiento vs. hace 4 semanas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899916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61104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n_active_8w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61104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Nº semanas con presencia, últimas 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261104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22292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age_weeks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4622292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Semanas desde la 1ª detección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622292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73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983480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peak_hist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983480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Frecuencia máxima alcanzada hasta hoy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4983480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≥62,50%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44668"/>
            <a:ext cx="22860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n_countries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5344668"/>
            <a:ext cx="30175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Nº de países donde circula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5344668"/>
            <a:ext cx="91440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21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705856"/>
            <a:ext cx="22860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geo_growth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5705856"/>
            <a:ext cx="30175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Δ nº países, últimas 4 semanas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5705856"/>
            <a:ext cx="91440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1371600"/>
            <a:ext cx="210312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Columna (×6 bio)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9640" y="1371600"/>
            <a:ext cx="260604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Qué mide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155680" y="1371600"/>
            <a:ext cx="868680" cy="36118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Ejemplo (XFG)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1732788"/>
            <a:ext cx="2103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mean_hamming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1732788"/>
            <a:ext cx="260604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Distancia genética media a Wuhan-ref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155680" y="1732788"/>
            <a:ext cx="86868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1.887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2093976"/>
            <a:ext cx="21031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mean_spike_muts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49640" y="2093976"/>
            <a:ext cx="260604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Nº medio de mutaciones en Spike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155680" y="2093976"/>
            <a:ext cx="86868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≈279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2455164"/>
            <a:ext cx="2103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pct_rbd_muts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49640" y="2455164"/>
            <a:ext cx="260604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% de esas mutaciones en el RBD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155680" y="2455164"/>
            <a:ext cx="86868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≈31%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2816352"/>
            <a:ext cx="21031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pct_furin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49640" y="2816352"/>
            <a:ext cx="260604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% en el sitio de corte de furina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155680" y="2816352"/>
            <a:ext cx="86868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≈1%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3177540"/>
            <a:ext cx="210312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n_escape_muts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49640" y="3177540"/>
            <a:ext cx="260604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Nº mutaciones de escape inmune conocidas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155680" y="3177540"/>
            <a:ext cx="86868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12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538728"/>
            <a:ext cx="210312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mut_diversity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49640" y="3538728"/>
            <a:ext cx="260604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Diversidad mutacional normalizada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55680" y="3538728"/>
            <a:ext cx="868680" cy="36118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≈0,17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46520" y="4069080"/>
            <a:ext cx="5577840" cy="1874519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46520" y="4069080"/>
            <a:ext cx="5577840" cy="64008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629400" y="4206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3D4D"/>
                </a:solidFill>
                <a:latin typeface="Calibri"/>
              </a:rPr>
              <a:t>M2-SPNSP30 añade las mismas 30 columnas: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29400" y="4572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44444"/>
                </a:solidFill>
                <a:latin typeface="Calibri"/>
              </a:rPr>
              <a:t>mut_Spike_XXX / mut_NSP12_XXX — frecuencia de esa mutación dentro de la familia.</a:t>
            </a:r>
          </a:p>
          <a:p>
            <a:pPr algn="l">
              <a:lnSpc>
                <a:spcPct val="125000"/>
              </a:lnSpc>
            </a:pPr>
            <a:endParaRPr sz="1250" b="0" i="0">
              <a:solidFill>
                <a:srgbClr val="444444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44444"/>
                </a:solidFill>
                <a:latin typeface="Calibri"/>
              </a:rPr>
              <a:t>Ejemplo (XFG): mut_Spike_N679K = 0,908  ·  mut_Spike_D796Y = 0,954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777777"/>
                </a:solidFill>
                <a:latin typeface="Calibri"/>
              </a:rPr>
              <a:t>M2 = 21 cols (15+6)  ·  M2-SPNSP30 = 51 cols (21+30)   —   "≈" = media histórica 2024+, no la semana exacta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DICCIONARIO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M3-SPNSP → M3-ALL — todas las columnas (nivel mutación)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12/23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777777"/>
                </a:solidFill>
                <a:latin typeface="Calibri"/>
              </a:rPr>
              <a:t>Ejemplo real: mutación S:D796Y (Spike, posición 796), última semana de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200400" cy="41148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Columna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417320"/>
            <a:ext cx="5120640" cy="41148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Qué mide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417320"/>
            <a:ext cx="2651760" cy="41148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Ejemplo (S:D796Y)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freq_t0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1206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Frecuencia relativa esta semana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828800"/>
            <a:ext cx="2651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95,24%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320040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log_growth_8w / 4w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240280"/>
            <a:ext cx="512064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log-crecimiento vs. hace 8 / 4 sem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240280"/>
            <a:ext cx="265176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+0,004 / 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slope_8w / slope_4w / accel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651760"/>
            <a:ext cx="51206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Pendiente de tendencia y aceleración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651760"/>
            <a:ext cx="2651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40"/>
            <a:ext cx="320040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freq_mean_8w / freq_std_8w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063240"/>
            <a:ext cx="512064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Media / desv. típica, últimas 8 sem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063240"/>
            <a:ext cx="265176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7472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n_families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474720"/>
            <a:ext cx="51206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Nº de linajes Pango independientes que la portan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3474720"/>
            <a:ext cx="2651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21  (convergencia)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86200"/>
            <a:ext cx="320040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is_spike / is_nsp12 / is_n_protein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886200"/>
            <a:ext cx="512064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Proteína en la que se encuentra (M3-ALL añade 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886200"/>
            <a:ext cx="265176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1 / 0 /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9768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position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4297680"/>
            <a:ext cx="51206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Posición de aminoácido en la proteína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4297680"/>
            <a:ext cx="2651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796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09160"/>
            <a:ext cx="320040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is_rbd / is_ntd / is_furin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4709160"/>
            <a:ext cx="512064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¿Cae en dominio de unión / NTD / sitio furina?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709160"/>
            <a:ext cx="265176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 / 0 /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12064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peak_freq_future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5120640"/>
            <a:ext cx="51206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Frecuencia máxima alcanzada después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5120640"/>
            <a:ext cx="2651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88,89%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532120"/>
            <a:ext cx="320040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target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5532120"/>
            <a:ext cx="512064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¿Llegó a fijarse (≥30%)?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5532120"/>
            <a:ext cx="2651760" cy="41148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777777"/>
                </a:solidFill>
                <a:latin typeface="Calibri"/>
              </a:rPr>
              <a:t>M3-SPNSP = 15 cols (solo Spike+NSP12)  ·  M3-ALL = 16 cols (+ is_n_protein, todo el genoma)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98112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RESULTADOS · 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Resultados: ¿qué tan bien predice cada dataset?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48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13/23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07592"/>
            <a:ext cx="640080" cy="329184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07592"/>
            <a:ext cx="2377440" cy="329184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07592"/>
            <a:ext cx="1920240" cy="329184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AUC (test)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307592"/>
            <a:ext cx="1554480" cy="329184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07592"/>
            <a:ext cx="1554480" cy="329184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307592"/>
            <a:ext cx="2194560" cy="329184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Iteraciones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36776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1636776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M3-SPNSP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636776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0,9203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636776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0,8704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636776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4,86×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636776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163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65960"/>
            <a:ext cx="64008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1965960"/>
            <a:ext cx="237744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M1-BIO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965960"/>
            <a:ext cx="192024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0,9036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1965960"/>
            <a:ext cx="155448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0,7092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965960"/>
            <a:ext cx="155448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4,33×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1965960"/>
            <a:ext cx="219456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295144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2295144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2295144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0,9033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2295144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0,7683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295144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4,69×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295144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24328"/>
            <a:ext cx="64008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2624328"/>
            <a:ext cx="237744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M1-SPNSP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2624328"/>
            <a:ext cx="192024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0,8869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2624328"/>
            <a:ext cx="155448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0,6896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2624328"/>
            <a:ext cx="155448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4,21×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2624328"/>
            <a:ext cx="219456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953512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2953512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M3-ALL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953512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0,8706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2953512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0,7239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953512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5,53×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2953512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282696"/>
            <a:ext cx="64008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3282696"/>
            <a:ext cx="237744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3282696"/>
            <a:ext cx="192024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0,8490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3282696"/>
            <a:ext cx="155448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0,5473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3282696"/>
            <a:ext cx="155448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4,19×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3282696"/>
            <a:ext cx="2194560" cy="329184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611880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7280" y="3611880"/>
            <a:ext cx="23774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M2-SPNSP30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3611880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0,8209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3611880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0,5354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3611880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4,10×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3611880"/>
            <a:ext cx="21945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3</a:t>
            </a:r>
          </a:p>
        </p:txBody>
      </p:sp>
      <p:pic>
        <p:nvPicPr>
          <p:cNvPr id="55" name="Picture 54" descr="4_1_lgbm_evalu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04" y="4206240"/>
            <a:ext cx="8924591" cy="265176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36880" y="39420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 dirty="0">
                <a:solidFill>
                  <a:srgbClr val="444444"/>
                </a:solidFill>
                <a:latin typeface="Calibri"/>
              </a:rPr>
              <a:t>AUC = </a:t>
            </a:r>
            <a:r>
              <a:rPr sz="1200" b="0" i="1" dirty="0" err="1">
                <a:solidFill>
                  <a:srgbClr val="444444"/>
                </a:solidFill>
                <a:latin typeface="Calibri"/>
              </a:rPr>
              <a:t>capacidad</a:t>
            </a:r>
            <a:r>
              <a:rPr sz="1200" b="0" i="1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200" b="0" i="1" dirty="0" err="1">
                <a:solidFill>
                  <a:srgbClr val="444444"/>
                </a:solidFill>
                <a:latin typeface="Calibri"/>
              </a:rPr>
              <a:t>distinguir</a:t>
            </a:r>
            <a:r>
              <a:rPr sz="1200" b="0" i="1" dirty="0">
                <a:solidFill>
                  <a:srgbClr val="444444"/>
                </a:solidFill>
                <a:latin typeface="Calibri"/>
              </a:rPr>
              <a:t> "</a:t>
            </a:r>
            <a:r>
              <a:rPr sz="1200" b="0" i="1" dirty="0" err="1">
                <a:solidFill>
                  <a:srgbClr val="444444"/>
                </a:solidFill>
                <a:latin typeface="Calibri"/>
              </a:rPr>
              <a:t>crecerá</a:t>
            </a:r>
            <a:r>
              <a:rPr sz="1200" b="0" i="1" dirty="0">
                <a:solidFill>
                  <a:srgbClr val="444444"/>
                </a:solidFill>
                <a:latin typeface="Calibri"/>
              </a:rPr>
              <a:t>" vs "no </a:t>
            </a:r>
            <a:r>
              <a:rPr sz="1200" b="0" i="1" dirty="0" err="1">
                <a:solidFill>
                  <a:srgbClr val="444444"/>
                </a:solidFill>
                <a:latin typeface="Calibri"/>
              </a:rPr>
              <a:t>crecerá</a:t>
            </a:r>
            <a:r>
              <a:rPr sz="1200" b="0" i="1" dirty="0">
                <a:solidFill>
                  <a:srgbClr val="444444"/>
                </a:solidFill>
                <a:latin typeface="Calibri"/>
              </a:rPr>
              <a:t>" (0,5 = azar, 1,0 = perfecto)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BB2974A-69CE-5152-64E2-381323BB1A95}"/>
              </a:ext>
            </a:extLst>
          </p:cNvPr>
          <p:cNvSpPr txBox="1"/>
          <p:nvPr/>
        </p:nvSpPr>
        <p:spPr>
          <a:xfrm>
            <a:off x="436880" y="960340"/>
            <a:ext cx="1205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Train:</a:t>
            </a:r>
            <a:r>
              <a:rPr lang="es-ES" sz="1400" dirty="0"/>
              <a:t> datos desde dic-2019 hasta </a:t>
            </a:r>
            <a:r>
              <a:rPr lang="es-ES" sz="1400" b="1" dirty="0"/>
              <a:t>31-may-2023</a:t>
            </a:r>
            <a:r>
              <a:rPr lang="es-ES" sz="1400" dirty="0"/>
              <a:t> (≈ 3,5 años) </a:t>
            </a:r>
            <a:r>
              <a:rPr lang="es-ES" sz="1400" b="1" dirty="0"/>
              <a:t>Test:</a:t>
            </a:r>
            <a:r>
              <a:rPr lang="es-ES" sz="1400" dirty="0"/>
              <a:t> datos desde </a:t>
            </a:r>
            <a:r>
              <a:rPr lang="es-ES" sz="1400" b="1" dirty="0"/>
              <a:t>1-jun-2023</a:t>
            </a:r>
            <a:r>
              <a:rPr lang="es-ES" sz="1400" dirty="0"/>
              <a:t> hasta feb-2026 (≈ 2,5 años </a:t>
            </a:r>
            <a:r>
              <a:rPr lang="es-ES" sz="1400" b="1" dirty="0"/>
              <a:t>nunca vistos durante el entrenamiento</a:t>
            </a:r>
            <a:r>
              <a:rPr lang="es-ES" sz="1400" dirty="0"/>
              <a:t>)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VALIDACIÓN TEMPORAL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¿La señal aguanta en el escenario más realista?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14/23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338560" cy="61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 dirty="0">
                <a:solidFill>
                  <a:srgbClr val="0B3D4D"/>
                </a:solidFill>
                <a:latin typeface="Calibri"/>
              </a:rPr>
              <a:t>Walk-forward: el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modelo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se re-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entrena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en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cada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una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de las 5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épocas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pandémicas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usando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solo el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pasado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, y se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evalúa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exclusivamente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sobre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el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futuro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inmediato</a:t>
            </a:r>
            <a:r>
              <a:rPr lang="es-ES" sz="1450" b="1" dirty="0">
                <a:solidFill>
                  <a:srgbClr val="0B3D4D"/>
                </a:solidFill>
                <a:latin typeface="Calibri"/>
              </a:rPr>
              <a:t>,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nunca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ve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B3D4D"/>
                </a:solidFill>
                <a:latin typeface="Calibri"/>
              </a:rPr>
              <a:t>datos</a:t>
            </a:r>
            <a:r>
              <a:rPr sz="1450" b="1" i="0" dirty="0">
                <a:solidFill>
                  <a:srgbClr val="0B3D4D"/>
                </a:solidFill>
                <a:latin typeface="Calibri"/>
              </a:rPr>
              <a:t> posteriores al punto de corte.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011680"/>
            <a:ext cx="384048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AUC medio (5 épocas)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2011680"/>
            <a:ext cx="292608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Desv. estándar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400" b="0">
                <a:solidFill>
                  <a:srgbClr val="0B3D4D"/>
                </a:solidFill>
                <a:latin typeface="Calibri"/>
              </a:rPr>
              <a:t>M3-SPNSP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377440"/>
            <a:ext cx="3840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0,8653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377440"/>
            <a:ext cx="2926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±0,0628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400" b="0">
                <a:solidFill>
                  <a:srgbClr val="0B3D4D"/>
                </a:solidFill>
                <a:latin typeface="Calibri"/>
              </a:rPr>
              <a:t>M3-ALL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743200"/>
            <a:ext cx="3840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0,7925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743200"/>
            <a:ext cx="29260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±0,0558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400" b="0">
                <a:solidFill>
                  <a:srgbClr val="0B3D4D"/>
                </a:solidFill>
                <a:latin typeface="Calibri"/>
              </a:rPr>
              <a:t>M2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108960"/>
            <a:ext cx="3840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0,8274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3108960"/>
            <a:ext cx="2926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±0,0706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400" b="0">
                <a:solidFill>
                  <a:srgbClr val="0B3D4D"/>
                </a:solidFill>
                <a:latin typeface="Calibri"/>
              </a:rPr>
              <a:t>M2-SPNSP30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474720"/>
            <a:ext cx="3840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0,7878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3474720"/>
            <a:ext cx="29260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±0,1067</a:t>
            </a:r>
          </a:p>
        </p:txBody>
      </p:sp>
      <p:pic>
        <p:nvPicPr>
          <p:cNvPr id="23" name="Picture 22" descr="4_2_walk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97" y="4023360"/>
            <a:ext cx="8319964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INTERPRETABILIDAD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Qué características biológicas predicen el éxito (SHAP + Cox)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15/23</a:t>
            </a:r>
          </a:p>
        </p:txBody>
      </p:sp>
      <p:pic>
        <p:nvPicPr>
          <p:cNvPr id="7" name="Picture 6" descr="4_3a_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1152144"/>
            <a:ext cx="10022840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RESULTADOS ·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Ranking de vigilancia activa — semana real 2026-01-12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16/23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3D4D"/>
                </a:solidFill>
                <a:latin typeface="Calibri"/>
              </a:rPr>
              <a:t>Top-5 familias Pango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46304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Familia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463040"/>
            <a:ext cx="137160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freq%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137160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63040"/>
            <a:ext cx="155448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Alerta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XFG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82880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62,50%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0,462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82880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146304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NB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19456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9,69%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19456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0,389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194560"/>
            <a:ext cx="1554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PQ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56032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11,87%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56032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0,389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56032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26080"/>
            <a:ext cx="146304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XFC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292608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3,33%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92608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0,387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926080"/>
            <a:ext cx="15544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9184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JN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32918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0,92%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2918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0,380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29184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7490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444444"/>
                </a:solidFill>
                <a:latin typeface="Calibri"/>
              </a:rPr>
              <a:t>16 familias activas: 0 HIGH · 11 MEDIUM · 5 WATCH — ninguna amenaza inminente a XFG.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3D4D"/>
                </a:solidFill>
                <a:latin typeface="Calibri"/>
              </a:rPr>
              <a:t>Top-5 mutaciones Spike/NSP12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463040"/>
            <a:ext cx="201168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Mutación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463040"/>
            <a:ext cx="118872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freq%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1463040"/>
            <a:ext cx="118872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P(M3)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0" y="1463040"/>
            <a:ext cx="1371600" cy="36576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Alerta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828800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Spike_P681R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182880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94,0%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182880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0,999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98480" y="182880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194560"/>
            <a:ext cx="20116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Spike_R158G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2194560"/>
            <a:ext cx="11887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91,4%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2194560"/>
            <a:ext cx="11887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0,999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98480" y="219456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560320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Spike_F486P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256032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89,9%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256032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0,999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98480" y="256032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HIGH·RBD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926080"/>
            <a:ext cx="201168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Spike_N450D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2926080"/>
            <a:ext cx="11887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90,4%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2926080"/>
            <a:ext cx="118872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0,999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98480" y="2926080"/>
            <a:ext cx="1371600" cy="36576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HIGH·RBD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291840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250" b="0">
                <a:solidFill>
                  <a:srgbClr val="0B3D4D"/>
                </a:solidFill>
                <a:latin typeface="Calibri"/>
              </a:rPr>
              <a:t>Spike_T376A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329184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90,3%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760" y="329184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0,999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98480" y="32918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250" b="0">
                <a:solidFill>
                  <a:srgbClr val="444444"/>
                </a:solidFill>
                <a:latin typeface="Calibri"/>
              </a:rPr>
              <a:t>HIGH·RBD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37490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444444"/>
                </a:solidFill>
                <a:latin typeface="Calibri"/>
              </a:rPr>
              <a:t>302 mutaciones activas: 88 HIGH · 52 MEDIUM · 162 WATCH.</a:t>
            </a:r>
          </a:p>
        </p:txBody>
      </p:sp>
      <p:pic>
        <p:nvPicPr>
          <p:cNvPr id="59" name="Picture 58" descr="4_4_ranking_vigil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129" y="4480560"/>
            <a:ext cx="6635261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RESULTADOS ·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Ranking combinado: LightGBM (¿está creciendo?) + Cox (¿cuándo?)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17/23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64592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Familia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280160"/>
            <a:ext cx="201168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P(LightGBM)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280160"/>
            <a:ext cx="155448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Alerta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137160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freq%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280160"/>
            <a:ext cx="3200400" cy="38404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Semanas estimadas hasta dominar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64208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NB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664208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0,3885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664208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66420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9,69%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664208"/>
            <a:ext cx="3200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~13 sem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48256"/>
            <a:ext cx="164592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XFC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2048256"/>
            <a:ext cx="201168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0,3872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048256"/>
            <a:ext cx="155448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048256"/>
            <a:ext cx="13716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3,33%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048256"/>
            <a:ext cx="32004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~20 sem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32304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JN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432304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0,3799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432304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43230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0,92%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432304"/>
            <a:ext cx="3200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~76 sem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16352"/>
            <a:ext cx="164592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XER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2816352"/>
            <a:ext cx="201168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0,3647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816352"/>
            <a:ext cx="155448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2816352"/>
            <a:ext cx="13716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0,17%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2816352"/>
            <a:ext cx="3200400" cy="38404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~300 sem (techo)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300" b="0">
                <a:solidFill>
                  <a:srgbClr val="0B3D4D"/>
                </a:solidFill>
                <a:latin typeface="Calibri"/>
              </a:rPr>
              <a:t>QK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20040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0,3596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200400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20040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1,20%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3200400"/>
            <a:ext cx="3200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~55 sem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40480"/>
            <a:ext cx="11338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●  La capa Cox traduce la probabilidad de crecimiento (LightGBM) en un horizonte temporal concreto — "NB" no es solo "probable", es "probable en ~13 semanas".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●  "~300 sem" es el techo del modelo: para familias con HR bajo y frecuencia residual, el tiempo estimado se satura — el sistema señaliza correctamente baja urgencia sin inventar una fecha precisa.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2E"/>
                </a:solidFill>
                <a:latin typeface="Calibri"/>
              </a:rPr>
              <a:t>VALIDACIÓN · EXTERNA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Validación externa: predicción vs. realidad (datos posteriores)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AAAAAA"/>
                </a:solidFill>
                <a:latin typeface="Calibri"/>
              </a:rPr>
              <a:t>20/23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737360" cy="56692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Horizonte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143000"/>
            <a:ext cx="1280160" cy="56692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143000"/>
            <a:ext cx="3108960" cy="56692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Predicción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143000"/>
            <a:ext cx="5212080" cy="566928"/>
          </a:xfrm>
          <a:prstGeom prst="rect">
            <a:avLst/>
          </a:prstGeom>
          <a:solidFill>
            <a:srgbClr val="0B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Realidad observada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09928"/>
            <a:ext cx="1737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Sem +1 (feb-26)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1709928"/>
            <a:ext cx="1280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✓ 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09928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XFG dominante (~41%)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09928"/>
            <a:ext cx="52120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XFG dominante global (VUM ECDC may-26)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76856"/>
            <a:ext cx="1737360" cy="56692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Sem +4 (mar-26)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276856"/>
            <a:ext cx="1280160" cy="56692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~ Parcial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276856"/>
            <a:ext cx="3108960" cy="56692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NB toma el relevo (~38%)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76856"/>
            <a:ext cx="5212080" cy="56692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NB co-dominante; XFG aún líder en América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43784"/>
            <a:ext cx="1737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Sem +8 (abr-26)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843784"/>
            <a:ext cx="1280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~ Parcial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843784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NB consolida (~49%)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843784"/>
            <a:ext cx="52120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NB al alza, pero emerge BA.3.2.2 (de novo)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10712"/>
            <a:ext cx="1737360" cy="56692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0B3D4D"/>
                </a:solidFill>
                <a:latin typeface="Calibri"/>
              </a:rPr>
              <a:t>Sem +16 (jun-26)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3410712"/>
            <a:ext cx="1280160" cy="56692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ctr"/>
            <a:r>
              <a:rPr sz="1150" b="0">
                <a:solidFill>
                  <a:srgbClr val="444444"/>
                </a:solidFill>
                <a:latin typeface="Calibri"/>
              </a:rPr>
              <a:t>~ Parcial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410712"/>
            <a:ext cx="3108960" cy="56692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NB dominante (~66-72%)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410712"/>
            <a:ext cx="5212080" cy="566928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54864" bIns="9144" rtlCol="0" anchor="ctr"/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Heterogeneidad regional: PQ.2.8.1/XFG.1.1/NB co-circulan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9090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 err="1">
                <a:solidFill>
                  <a:srgbClr val="0B3D4D"/>
                </a:solidFill>
                <a:latin typeface="Calibri"/>
              </a:rPr>
              <a:t>Resultado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: 1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acierto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exacto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· 3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tendencia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correcta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(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magnitud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distinta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) · 0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fallos</a:t>
            </a:r>
            <a:r>
              <a:rPr sz="1500" b="1" i="0" dirty="0">
                <a:solidFill>
                  <a:srgbClr val="0B3D4D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B3D4D"/>
                </a:solidFill>
                <a:latin typeface="Calibri"/>
              </a:rPr>
              <a:t>completos</a:t>
            </a:r>
            <a:endParaRPr sz="1500" b="1" i="0" dirty="0">
              <a:solidFill>
                <a:srgbClr val="0B3D4D"/>
              </a:solidFill>
              <a:latin typeface="Calibri"/>
            </a:endParaRPr>
          </a:p>
        </p:txBody>
      </p:sp>
      <p:pic>
        <p:nvPicPr>
          <p:cNvPr id="28" name="Picture 27" descr="7_2_validacion_exter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704" y="4215384"/>
            <a:ext cx="6414111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Conclusiones biológicas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258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F2F4"/>
                </a:solidFill>
                <a:latin typeface="Calibri"/>
              </a:rPr>
              <a:t>La frecuencia inicial, no la velocidad de crecimiento, es el predictor más potente de dominancia futura.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F2F4"/>
                </a:solidFill>
                <a:latin typeface="Calibri"/>
              </a:rPr>
              <a:t>Las mutaciones en RBD/Spike bajo evolución convergente (n_families alto) son la señal de alarma más fiable a nivel poblacional.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0332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dirty="0">
                <a:solidFill>
                  <a:srgbClr val="E8F2F4"/>
                </a:solidFill>
                <a:latin typeface="Calibri"/>
              </a:rPr>
              <a:t>El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sistema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combinado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(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LightGBM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+ Cox + ranking)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acierta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de forma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fiable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a corto-medio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plazo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(≤8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semanas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);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falla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solo ante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eventos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estructuralmente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no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modelables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(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variantes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de novo, </a:t>
            </a:r>
            <a:r>
              <a:rPr sz="1700" b="0" i="0" dirty="0" err="1">
                <a:solidFill>
                  <a:srgbClr val="E8F2F4"/>
                </a:solidFill>
                <a:latin typeface="Calibri"/>
              </a:rPr>
              <a:t>fragmentación</a:t>
            </a:r>
            <a:r>
              <a:rPr sz="1700" b="0" i="0" dirty="0">
                <a:solidFill>
                  <a:srgbClr val="E8F2F4"/>
                </a:solidFill>
                <a:latin typeface="Calibri"/>
              </a:rPr>
              <a:t> regional).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3AC9F-2AD3-4B80-2266-CE4178FC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CD818A-73EA-F91D-C736-CC5B9FD66C64}"/>
              </a:ext>
            </a:extLst>
          </p:cNvPr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6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4E0BF0-F8B1-F481-FFF5-3CCED123141D}"/>
              </a:ext>
            </a:extLst>
          </p:cNvPr>
          <p:cNvSpPr/>
          <p:nvPr/>
        </p:nvSpPr>
        <p:spPr>
          <a:xfrm>
            <a:off x="0" y="4983480"/>
            <a:ext cx="12191695" cy="54864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7954A-A824-21E3-ECD0-B2A7F52B7FE7}"/>
              </a:ext>
            </a:extLst>
          </p:cNvPr>
          <p:cNvSpPr txBox="1"/>
          <p:nvPr/>
        </p:nvSpPr>
        <p:spPr>
          <a:xfrm>
            <a:off x="822960" y="118872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4FA8B8"/>
                </a:solidFill>
                <a:latin typeface="Calibri"/>
              </a:rPr>
              <a:t>TRABAJO FIN DE MÁSTER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EB27B-B52E-81F8-CE5C-E21F056C836A}"/>
              </a:ext>
            </a:extLst>
          </p:cNvPr>
          <p:cNvSpPr txBox="1"/>
          <p:nvPr/>
        </p:nvSpPr>
        <p:spPr>
          <a:xfrm>
            <a:off x="822960" y="169164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Predicción de la expansión de variantes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de SARS-CoV-2 mediante aprendizaje automático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57847-A8C2-81C5-BDCD-6F30945E5945}"/>
              </a:ext>
            </a:extLst>
          </p:cNvPr>
          <p:cNvSpPr txBox="1"/>
          <p:nvPr/>
        </p:nvSpPr>
        <p:spPr>
          <a:xfrm>
            <a:off x="822960" y="3749039"/>
            <a:ext cx="10515600" cy="66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1" dirty="0">
                <a:solidFill>
                  <a:srgbClr val="CBE6EA"/>
                </a:solidFill>
                <a:latin typeface="Calibri"/>
              </a:rPr>
              <a:t>De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datos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crudos (GISAID +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secuenciación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ultra-profunda)</a:t>
            </a:r>
          </a:p>
          <a:p>
            <a:pPr algn="l">
              <a:lnSpc>
                <a:spcPct val="125000"/>
              </a:lnSpc>
            </a:pPr>
            <a:r>
              <a:rPr sz="1550" b="0" i="1" dirty="0">
                <a:solidFill>
                  <a:srgbClr val="CBE6EA"/>
                </a:solidFill>
                <a:latin typeface="Calibri"/>
              </a:rPr>
              <a:t>a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datasets,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modelos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y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resultados</a:t>
            </a:r>
            <a:r>
              <a:rPr lang="es-ES" sz="1550" i="1" dirty="0">
                <a:solidFill>
                  <a:srgbClr val="CBE6EA"/>
                </a:solidFill>
                <a:latin typeface="Calibri"/>
              </a:rPr>
              <a:t>, 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con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ejemplos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reales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en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</a:t>
            </a:r>
            <a:r>
              <a:rPr sz="1550" b="0" i="1" dirty="0" err="1">
                <a:solidFill>
                  <a:srgbClr val="CBE6EA"/>
                </a:solidFill>
                <a:latin typeface="Calibri"/>
              </a:rPr>
              <a:t>cada</a:t>
            </a:r>
            <a:r>
              <a:rPr sz="1550" b="0" i="1" dirty="0">
                <a:solidFill>
                  <a:srgbClr val="CBE6EA"/>
                </a:solidFill>
                <a:latin typeface="Calibri"/>
              </a:rPr>
              <a:t> paso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0F9AF-8426-A8C0-265E-0D66AF467834}"/>
              </a:ext>
            </a:extLst>
          </p:cNvPr>
          <p:cNvSpPr txBox="1"/>
          <p:nvPr/>
        </p:nvSpPr>
        <p:spPr>
          <a:xfrm>
            <a:off x="822960" y="5257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Sergio López González del Rey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204F8-2736-2D90-A140-57967C33528B}"/>
              </a:ext>
            </a:extLst>
          </p:cNvPr>
          <p:cNvSpPr txBox="1"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FA8B8"/>
                </a:solidFill>
                <a:latin typeface="Calibri"/>
              </a:rPr>
              <a:t>Tutor: Manuel Sánchez-Montañés Isla  ·  Máster en Sistemas Interactivos Inteligentes  ·  UAM</a:t>
            </a:r>
          </a:p>
        </p:txBody>
      </p:sp>
    </p:spTree>
    <p:extLst>
      <p:ext uri="{BB962C8B-B14F-4D97-AF65-F5344CB8AC3E}">
        <p14:creationId xmlns:p14="http://schemas.microsoft.com/office/powerpoint/2010/main" val="780733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2907</Words>
  <Application>Microsoft Office PowerPoint</Application>
  <PresentationFormat>Panorámica</PresentationFormat>
  <Paragraphs>678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Sergio López González del Rey</cp:lastModifiedBy>
  <cp:revision>1</cp:revision>
  <dcterms:created xsi:type="dcterms:W3CDTF">2013-01-27T09:14:16Z</dcterms:created>
  <dcterms:modified xsi:type="dcterms:W3CDTF">2026-07-01T07:17:21Z</dcterms:modified>
  <cp:category/>
</cp:coreProperties>
</file>